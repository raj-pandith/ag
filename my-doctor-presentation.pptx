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6366F1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2743200" cy="2743200"/>
          </a:xfrm>
          <a:prstGeom prst="ellipse">
            <a:avLst/>
          </a:prstGeom>
          <a:solidFill>
            <a:srgbClr val="8B5CF6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/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My Doctor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3192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8C8DC"/>
                </a:solidFill>
              </a:rPr>
              <a:t>Your Digital Healthcare Companion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937760"/>
            <a:ext cx="3383280" cy="411480"/>
          </a:xfrm>
          <a:prstGeom prst="roundRect">
            <a:avLst>
              <a:gd name="adj" fmla="val 500000000"/>
            </a:avLst>
          </a:prstGeom>
          <a:solidFill>
            <a:srgbClr val="232346"/>
          </a:solidFill>
          <a:ln w="6350">
            <a:solidFill>
              <a:srgbClr val="50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937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18CF8"/>
                </a:solidFill>
              </a:rPr>
              <a:t>●  Connecting Patients &amp; Doctors Seamlessly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6366F1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118872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OUR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0020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 i="0"/>
              <a:t>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Our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9418320" cy="2286000"/>
          </a:xfrm>
          <a:prstGeom prst="roundRect">
            <a:avLst>
              <a:gd name="adj" fmla="val 200000000"/>
            </a:avLst>
          </a:prstGeom>
          <a:solidFill>
            <a:srgbClr val="191937"/>
          </a:solidFill>
          <a:ln w="6350">
            <a:solidFill>
              <a:srgbClr val="46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93192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</a:rPr>
              <a:t>To become the </a:t>
            </a:r>
            <a:r>
              <a:rPr sz="2200" b="1">
                <a:solidFill>
                  <a:srgbClr val="818CF8"/>
                </a:solidFill>
              </a:rPr>
              <a:t>digital healthcare companion</a:t>
            </a:r>
          </a:p>
          <a:p>
            <a:pPr algn="ctr">
              <a:spcBef>
                <a:spcPts val="1200"/>
              </a:spcBef>
            </a:pPr>
            <a:r>
              <a:rPr sz="2200">
                <a:solidFill>
                  <a:srgbClr val="FFFFFF"/>
                </a:solidFill>
              </a:rPr>
              <a:t>that keeps patients connected with their trusted doctors while </a:t>
            </a:r>
          </a:p>
          <a:p>
            <a:pPr algn="ctr"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creating a unified medical record that </a:t>
            </a:r>
            <a:r>
              <a:rPr sz="2200" b="1">
                <a:solidFill>
                  <a:srgbClr val="818CF8"/>
                </a:solidFill>
              </a:rPr>
              <a:t>improves healthcare for everyone</a:t>
            </a:r>
            <a:r>
              <a:rPr sz="2200">
                <a:solidFill>
                  <a:srgbClr val="FFFFFF"/>
                </a:solidFill>
              </a:rPr>
              <a:t>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82296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8229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Healthcare Has Real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C8DC"/>
                </a:solidFill>
              </a:rPr>
              <a:t>While technology has advanced, the fundamental connection between patients and doctors is broken.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926080"/>
            <a:ext cx="3840480" cy="2926080"/>
          </a:xfrm>
          <a:prstGeom prst="roundRect">
            <a:avLst>
              <a:gd name="adj" fmla="val 200000000"/>
            </a:avLst>
          </a:prstGeom>
          <a:solidFill>
            <a:srgbClr val="14143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/>
              <a:t>👨‍⚕️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18CF8"/>
                </a:solidFill>
              </a:rPr>
              <a:t>Doctors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062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C8DC"/>
                </a:solidFill>
              </a:rPr>
              <a:t>Lose patients when away
Lack patient context
No continuity of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65760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A0A0BE"/>
                </a:solidFill>
              </a:rPr>
              <a:t>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926080"/>
            <a:ext cx="3840480" cy="2926080"/>
          </a:xfrm>
          <a:prstGeom prst="roundRect">
            <a:avLst>
              <a:gd name="adj" fmla="val 200000000"/>
            </a:avLst>
          </a:prstGeom>
          <a:solidFill>
            <a:srgbClr val="1414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108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/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F4444"/>
                </a:solidFill>
              </a:rPr>
              <a:t>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2062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C8DC"/>
                </a:solidFill>
              </a:rPr>
              <a:t>Wait long hours
Carry paper files
No central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64008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640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👨‍⚕️ DOCTOR'S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Problems Doctors Face 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81328" y="2130552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2130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213055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Patient issues are closely related to doctors, but not all problems are communicated well.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017520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81328" y="3136392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3136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313639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Doctors cannot lose patients even when they move out of town.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023360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81328" y="4142232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4142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414223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 the doctor's absence, AI can check patient history and suggest options — same medicine, referral, or availability info.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029200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1328" y="5148072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51480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514807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During vacation, if a doctor gets free time, they can attend patients online.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0" y="64008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640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👤 PATIENT'S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Problems Patients Face 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81328" y="2130552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2130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213055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Online consultations with unknown doctors fail to understand patient issues properly.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761488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81328" y="2880360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2880360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Patients have to wait in hospitals for long hours to get treated.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511296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81328" y="3630168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36301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3630168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Token systems exist but lack live updates on the current status.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261104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1328" y="4379976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43799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4379976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Sometimes patients can't go to the hospital and no family member is available to help.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010912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81328" y="5129784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51297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5129784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Patients must carry hard copies of medical reports and X-rays everywhere.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760720"/>
            <a:ext cx="9418320" cy="594360"/>
          </a:xfrm>
          <a:prstGeom prst="roundRect">
            <a:avLst>
              <a:gd name="adj" fmla="val 150000000"/>
            </a:avLst>
          </a:prstGeom>
          <a:solidFill>
            <a:srgbClr val="191932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81328" y="5879592"/>
            <a:ext cx="347472" cy="347472"/>
          </a:xfrm>
          <a:prstGeom prst="roundRect">
            <a:avLst>
              <a:gd name="adj" fmla="val 5000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81328" y="58795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587959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There is no centralized patient medical history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64008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640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✅ PATIENT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Our Smart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457200" cy="457200"/>
          </a:xfrm>
          <a:prstGeom prst="roundRect">
            <a:avLst>
              <a:gd name="adj" fmla="val 500000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011680"/>
            <a:ext cx="8823960" cy="777240"/>
          </a:xfrm>
          <a:prstGeom prst="roundRect">
            <a:avLst>
              <a:gd name="adj" fmla="val 150000000"/>
            </a:avLst>
          </a:prstGeom>
          <a:solidFill>
            <a:srgbClr val="141937"/>
          </a:solidFill>
          <a:ln w="6350">
            <a:solidFill>
              <a:srgbClr val="32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121408"/>
            <a:ext cx="8549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Connect with a known doctor — they understand your history. A secure platform replaces the need to share personal numbers.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54680"/>
            <a:ext cx="457200" cy="457200"/>
          </a:xfrm>
          <a:prstGeom prst="roundRect">
            <a:avLst>
              <a:gd name="adj" fmla="val 50000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3063240"/>
            <a:ext cx="8823960" cy="777240"/>
          </a:xfrm>
          <a:prstGeom prst="roundRect">
            <a:avLst>
              <a:gd name="adj" fmla="val 150000000"/>
            </a:avLst>
          </a:prstGeom>
          <a:solidFill>
            <a:srgbClr val="141937"/>
          </a:solidFill>
          <a:ln w="6350">
            <a:solidFill>
              <a:srgbClr val="32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172968"/>
            <a:ext cx="8549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Live hospital updates — real-time doctor availability with GPS-based smart alerts to reach the hospital just in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206240"/>
            <a:ext cx="457200" cy="457200"/>
          </a:xfrm>
          <a:prstGeom prst="roundRect">
            <a:avLst>
              <a:gd name="adj" fmla="val 50000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4114800"/>
            <a:ext cx="8823960" cy="777240"/>
          </a:xfrm>
          <a:prstGeom prst="roundRect">
            <a:avLst>
              <a:gd name="adj" fmla="val 150000000"/>
            </a:avLst>
          </a:prstGeom>
          <a:solidFill>
            <a:srgbClr val="141937"/>
          </a:solidFill>
          <a:ln w="6350">
            <a:solidFill>
              <a:srgbClr val="32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224528"/>
            <a:ext cx="8549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Family member support — add family members who can set up calls and explain the situation on your behalf.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257800"/>
            <a:ext cx="457200" cy="457200"/>
          </a:xfrm>
          <a:prstGeom prst="roundRect">
            <a:avLst>
              <a:gd name="adj" fmla="val 5000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5166360"/>
            <a:ext cx="8823960" cy="777240"/>
          </a:xfrm>
          <a:prstGeom prst="roundRect">
            <a:avLst>
              <a:gd name="adj" fmla="val 150000000"/>
            </a:avLst>
          </a:prstGeom>
          <a:solidFill>
            <a:srgbClr val="141937"/>
          </a:solidFill>
          <a:ln w="6350">
            <a:solidFill>
              <a:srgbClr val="32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5276088"/>
            <a:ext cx="8549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Centralized cloud records — all medical history securely stored. Full summary sent to doctor on appointment. No more carrying files!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0" y="54864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0" y="5486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🤖 AI-POWERED DOCTOR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How We Help Doctors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90575" y="1828800"/>
            <a:ext cx="2651760" cy="32004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3727" y="1874520"/>
            <a:ext cx="250545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7735" y="19568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AI Patient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" y="242316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When unavailable, AI reviews patient history and suggests the best next step — same medicine, referral, or appointment rescheduling.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3503" y="1828800"/>
            <a:ext cx="2651760" cy="32004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6655" y="1874520"/>
            <a:ext cx="250545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0663" y="19568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0663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Vacation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663" y="242316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Doctors on vacation can still handle urgent online consultations in their free time. No patient is left unattended.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1828800"/>
            <a:ext cx="2651760" cy="32004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9583" y="1874520"/>
            <a:ext cx="250545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19568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Smart Patient Handover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42316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Before any consultation, the system auto-sends a summarized patient history to the doctor — complete context in seconds.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49359" y="1828800"/>
            <a:ext cx="2651760" cy="32004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2511" y="1874520"/>
            <a:ext cx="250545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6519" y="19568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6519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Secure 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6519" y="242316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Doctors connect through a secure platform. No need to share personal phone numbers with every patient.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54864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5486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📱 PATIENT EXPERIENCE REDEFINED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 Better Way to 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0575" y="1828800"/>
            <a:ext cx="2651760" cy="32004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3727" y="1874520"/>
            <a:ext cx="250545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7735" y="19568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👨‍⚕️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Trusted Doctors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" y="242316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Connect with doctors who already know your history. Better conversations, better care.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3503" y="1828800"/>
            <a:ext cx="2651760" cy="32004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6655" y="1874520"/>
            <a:ext cx="250545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0663" y="19568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0663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No More Waiting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663" y="242316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GPS-based smart alerts tell you exactly when to reach the hospital. Zero waiting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1828800"/>
            <a:ext cx="2651760" cy="32004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9583" y="1874520"/>
            <a:ext cx="250545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19568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👨‍👩‍👧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Family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42316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Add family members who can represent you during consultations. Great for elders and children.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49359" y="1828800"/>
            <a:ext cx="2651760" cy="32004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2511" y="1874520"/>
            <a:ext cx="250545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6519" y="19568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☁️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6519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Cloud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6519" y="242316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All reports, X-rays &amp; history stored securely in the cloud. Access from anywhere, anytime.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80" y="73152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80" y="7315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Seamless Experience, Every Step</a:t>
            </a:r>
          </a:p>
        </p:txBody>
      </p:sp>
      <p:sp>
        <p:nvSpPr>
          <p:cNvPr id="5" name="Oval 4"/>
          <p:cNvSpPr/>
          <p:nvPr/>
        </p:nvSpPr>
        <p:spPr>
          <a:xfrm>
            <a:off x="1752447" y="2011680"/>
            <a:ext cx="731520" cy="73152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52447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207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207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DC"/>
                </a:solidFill>
              </a:rPr>
              <a:t>Book appointment with
your trusted doctor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9495" y="2194560"/>
            <a:ext cx="329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0A0BE"/>
                </a:solidFill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404207" y="201168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4207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6967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Get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967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DC"/>
                </a:solidFill>
              </a:rPr>
              <a:t>Full medical history
sent to doctor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1255" y="2194560"/>
            <a:ext cx="329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0A0BE"/>
                </a:solidFill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055967" y="2011680"/>
            <a:ext cx="731520" cy="73152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5967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Consult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DC"/>
                </a:solidFill>
              </a:rPr>
              <a:t>Visit or consult online
with full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3015" y="2194560"/>
            <a:ext cx="329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0A0BE"/>
                </a:solidFill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707727" y="201168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7727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0487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0487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DC"/>
                </a:solidFill>
              </a:rPr>
              <a:t>Records updated &amp;
available anywhere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46320" y="54864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0" y="5486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🌐 BEYOND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Building a Complete Health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C8DC"/>
                </a:solidFill>
              </a:rPr>
              <a:t>With centralized medical history, we unlock powerful features that benefit everyone.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887" y="2377440"/>
            <a:ext cx="3474720" cy="18288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039" y="2423160"/>
            <a:ext cx="332841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25054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761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Better 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297180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Accurate history = better insurance plans &amp; faster claims.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487" y="2377440"/>
            <a:ext cx="3474720" cy="18288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1639" y="2423160"/>
            <a:ext cx="332841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647" y="25054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2761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Fast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647" y="297180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Digital records speed up approvals &amp; reimbursements.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6087" y="2377440"/>
            <a:ext cx="3474720" cy="18288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239" y="2423160"/>
            <a:ext cx="332841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247" y="25054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247" y="2761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Generic Medicine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3247" y="297180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Smart suggestions for affordable generic alternatives.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887" y="4434840"/>
            <a:ext cx="3474720" cy="18288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4039" y="4480560"/>
            <a:ext cx="332841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047" y="45628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47" y="4818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Wearables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047" y="502920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Sync with smart watches for real-time health monitoring.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8487" y="4434840"/>
            <a:ext cx="3474720" cy="18288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1639" y="4480560"/>
            <a:ext cx="332841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5647" y="45628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647" y="4818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Health Community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5647" y="502920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Engage with a community for tips, support &amp; motivation.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087" y="4434840"/>
            <a:ext cx="3474720" cy="1828800"/>
          </a:xfrm>
          <a:prstGeom prst="roundRect">
            <a:avLst>
              <a:gd name="adj" fmla="val 200000000"/>
            </a:avLst>
          </a:prstGeom>
          <a:solidFill>
            <a:srgbClr val="1E1E37"/>
          </a:solidFill>
          <a:ln w="6350"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89239" y="4480560"/>
            <a:ext cx="3328416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3247" y="45628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3247" y="4818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And More...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3247" y="502920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Endless possibilities with a unified health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0" y="64008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0" y="640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 Win-Win for Everyone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327" y="2103120"/>
            <a:ext cx="3291840" cy="3657600"/>
          </a:xfrm>
          <a:prstGeom prst="roundRect">
            <a:avLst>
              <a:gd name="adj" fmla="val 200000000"/>
            </a:avLst>
          </a:prstGeom>
          <a:solidFill>
            <a:srgbClr val="161632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327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/>
              <a:t>👨‍⚕️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18CF8"/>
                </a:solidFill>
              </a:rPr>
              <a:t>For Doctors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• Never lose a 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647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• Work smarter with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647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• Stay connected on vacation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9927" y="2103120"/>
            <a:ext cx="3291840" cy="3657600"/>
          </a:xfrm>
          <a:prstGeom prst="roundRect">
            <a:avLst>
              <a:gd name="adj" fmla="val 200000000"/>
            </a:avLst>
          </a:prstGeom>
          <a:solidFill>
            <a:srgbClr val="1616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27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/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9927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For 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• No waiting in hospitals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247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• No paper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247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• Doctors who know you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7527" y="2103120"/>
            <a:ext cx="3291840" cy="3657600"/>
          </a:xfrm>
          <a:prstGeom prst="roundRect">
            <a:avLst>
              <a:gd name="adj" fmla="val 200000000"/>
            </a:avLst>
          </a:prstGeom>
          <a:solidFill>
            <a:srgbClr val="16163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7527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/>
              <a:t>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7527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For Healthcare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• Better insurance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847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• Faster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847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C"/>
                </a:solidFill>
              </a:rPr>
              <a:t>• Healthier communities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0" y="640080"/>
            <a:ext cx="2011680" cy="292608"/>
          </a:xfrm>
          <a:prstGeom prst="roundRect">
            <a:avLst>
              <a:gd name="adj" fmla="val 500000000"/>
            </a:avLst>
          </a:prstGeom>
          <a:solidFill>
            <a:srgbClr val="23234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0" y="640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What's Next for My Doctor</a:t>
            </a:r>
          </a:p>
        </p:txBody>
      </p:sp>
      <p:sp>
        <p:nvSpPr>
          <p:cNvPr id="5" name="Oval 4"/>
          <p:cNvSpPr/>
          <p:nvPr/>
        </p:nvSpPr>
        <p:spPr>
          <a:xfrm>
            <a:off x="1615287" y="2286000"/>
            <a:ext cx="1005840" cy="10058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287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/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MVP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487" y="3886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DC"/>
                </a:solidFill>
              </a:rPr>
              <a:t>Core platform with appointment
booking &amp; medical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5215" y="2560320"/>
            <a:ext cx="237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0A0BE"/>
                </a:solidFill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267047" y="228600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7047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/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247" y="3886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DC"/>
                </a:solidFill>
              </a:rPr>
              <a:t>Smart AI assistant for
doctors &amp; 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975" y="2560320"/>
            <a:ext cx="237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0A0BE"/>
                </a:solidFill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6918807" y="2286000"/>
            <a:ext cx="1005840" cy="10058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8807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/>
              <a:t>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Wearables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3886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DC"/>
                </a:solidFill>
              </a:rPr>
              <a:t>Real-time health monitoring
&amp; smart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8735" y="2560320"/>
            <a:ext cx="237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0A0BE"/>
                </a:solidFill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570567" y="2286000"/>
            <a:ext cx="1005840" cy="10058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0567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/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4767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Full 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4767" y="3886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DC"/>
                </a:solidFill>
              </a:rPr>
              <a:t>Insurance, pharmacy &amp;
community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3657600" cy="3657600"/>
          </a:xfrm>
          <a:prstGeom prst="ellipse">
            <a:avLst/>
          </a:prstGeom>
          <a:solidFill>
            <a:srgbClr val="6366F1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3200400" cy="3200400"/>
          </a:xfrm>
          <a:prstGeom prst="ellipse">
            <a:avLst/>
          </a:prstGeom>
          <a:solidFill>
            <a:srgbClr val="8B5CF6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/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My Doctor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611880"/>
            <a:ext cx="393192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C8C8DC"/>
                </a:solidFill>
              </a:rPr>
              <a:t>Healthcare, reimagined — </a:t>
            </a:r>
            <a:r>
              <a:rPr sz="2200" b="1">
                <a:solidFill>
                  <a:srgbClr val="818CF8"/>
                </a:solidFill>
              </a:rPr>
              <a:t>connected, intelligent, and personal.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